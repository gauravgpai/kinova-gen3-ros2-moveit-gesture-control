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8" r:id="rId2"/>
    <p:sldId id="260" r:id="rId3"/>
    <p:sldId id="259" r:id="rId4"/>
    <p:sldId id="261" r:id="rId5"/>
    <p:sldId id="262" r:id="rId6"/>
    <p:sldId id="263" r:id="rId7"/>
  </p:sldIdLst>
  <p:sldSz cx="12192000" cy="6858000"/>
  <p:notesSz cx="6797675" cy="9926638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511A7-BDE5-42CB-9707-63498D828845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C8AA30-F4B4-4583-8AD9-7C4A582DC35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0144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38138" y="2487600"/>
            <a:ext cx="115189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8138" y="2980800"/>
            <a:ext cx="115189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871" y="6049958"/>
            <a:ext cx="3232878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9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38138" y="2487600"/>
            <a:ext cx="115189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8138" y="2980800"/>
            <a:ext cx="115189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871" y="6049958"/>
            <a:ext cx="3232878" cy="813600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43" r="614" b="11770"/>
          <a:stretch/>
        </p:blipFill>
        <p:spPr>
          <a:xfrm>
            <a:off x="151" y="0"/>
            <a:ext cx="12191851" cy="23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371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338138" y="4737600"/>
            <a:ext cx="115189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8138" y="5230805"/>
            <a:ext cx="115189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871" y="6049958"/>
            <a:ext cx="3232878" cy="81360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76" b="14795"/>
          <a:stretch/>
        </p:blipFill>
        <p:spPr>
          <a:xfrm>
            <a:off x="0" y="-13493"/>
            <a:ext cx="12192000" cy="453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09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/>
          <p:cNvCxnSpPr/>
          <p:nvPr/>
        </p:nvCxnSpPr>
        <p:spPr>
          <a:xfrm>
            <a:off x="338138" y="6040438"/>
            <a:ext cx="11518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38138" y="2487600"/>
            <a:ext cx="115189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8138" y="2980800"/>
            <a:ext cx="115189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871" y="6049958"/>
            <a:ext cx="3232878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07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/>
          <p:cNvCxnSpPr/>
          <p:nvPr/>
        </p:nvCxnSpPr>
        <p:spPr>
          <a:xfrm>
            <a:off x="338138" y="3036888"/>
            <a:ext cx="11518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338138" y="2487600"/>
            <a:ext cx="115189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8138" y="3196800"/>
            <a:ext cx="115189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871" y="6049958"/>
            <a:ext cx="3232878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789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8138" y="201600"/>
            <a:ext cx="115189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>
          <a:xfrm>
            <a:off x="338138" y="1152000"/>
            <a:ext cx="115189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10" indent="180009">
              <a:buClr>
                <a:schemeClr val="tx2"/>
              </a:buClr>
              <a:defRPr sz="1801"/>
            </a:lvl2pPr>
            <a:lvl3pPr marL="432022" indent="180009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32" indent="180009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44" indent="180009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6E225-4C3D-421C-A204-448F4FDD5F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138" y="1684338"/>
            <a:ext cx="11518900" cy="398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2533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8138" y="201600"/>
            <a:ext cx="115189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38138" y="1152000"/>
            <a:ext cx="115189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10" indent="180009">
              <a:buClr>
                <a:schemeClr val="tx2"/>
              </a:buClr>
              <a:defRPr sz="1801"/>
            </a:lvl2pPr>
            <a:lvl3pPr marL="432022" indent="180009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32" indent="180009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44" indent="180009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4F9DF6-6D4E-4E91-81E4-DA9E88AE55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138" y="1684338"/>
            <a:ext cx="11518900" cy="3987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4173749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664" y="1684339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8138" y="201600"/>
            <a:ext cx="115189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338138" y="1152000"/>
            <a:ext cx="115189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10" indent="180009">
              <a:buClr>
                <a:schemeClr val="tx2"/>
              </a:buClr>
              <a:defRPr sz="1801"/>
            </a:lvl2pPr>
            <a:lvl3pPr marL="432022" indent="180009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32" indent="180009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44" indent="180009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86FF2-D0CD-4450-B177-FB0ABCE732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138" y="1684339"/>
            <a:ext cx="7605712" cy="398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0929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Bild-emn_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D0CD1DC-8B1D-4FEC-9B94-AF2EA2CE9E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21664" y="1152000"/>
            <a:ext cx="3635375" cy="4521726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8138" y="201600"/>
            <a:ext cx="115189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86FF2-D0CD-4450-B177-FB0ABCE732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138" y="1152000"/>
            <a:ext cx="7605712" cy="4521726"/>
          </a:xfrm>
          <a:prstGeom prst="rect">
            <a:avLst/>
          </a:prstGeom>
        </p:spPr>
        <p:txBody>
          <a:bodyPr/>
          <a:lstStyle>
            <a:lvl1pPr marL="216005" marR="0" indent="-216005" algn="l" defTabSz="215906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Arial" panose="020B0604020202020204" pitchFamily="34" charset="0"/>
              <a:buChar char="•"/>
              <a:tabLst>
                <a:tab pos="215906" algn="l"/>
              </a:tabLst>
              <a:defRPr sz="1600"/>
            </a:lvl1pPr>
            <a:lvl2pPr marL="432011" marR="0" indent="-216005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Symbol" panose="05050102010706020507" pitchFamily="18" charset="2"/>
              <a:buChar char=""/>
              <a:tabLst>
                <a:tab pos="431811" algn="l"/>
              </a:tabLst>
              <a:defRPr sz="1400"/>
            </a:lvl2pPr>
            <a:lvl3pPr marL="648016" marR="0" indent="-216005" algn="l" defTabSz="215906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Pct val="80000"/>
              <a:buFont typeface="Wingdings" panose="05000000000000000000" pitchFamily="2" charset="2"/>
              <a:buChar char="§"/>
              <a:tabLst>
                <a:tab pos="647716" algn="l"/>
              </a:tabLst>
              <a:defRPr sz="1400"/>
            </a:lvl3pPr>
            <a:lvl4pPr marL="864022" marR="0" indent="-216005" algn="l" defTabSz="215906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Pct val="100000"/>
              <a:buFont typeface="Arial" panose="020B0604020202020204" pitchFamily="34" charset="0"/>
              <a:buChar char="-"/>
              <a:tabLst>
                <a:tab pos="863622" algn="l"/>
              </a:tabLst>
              <a:defRPr sz="1400"/>
            </a:lvl4pPr>
            <a:lvl5pPr marL="864022" marR="0" indent="-216005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Arial" panose="020B0604020202020204" pitchFamily="34" charset="0"/>
              <a:buChar char="-"/>
              <a:tabLst>
                <a:tab pos="895373" algn="l"/>
              </a:tabLst>
              <a:defRPr sz="1400"/>
            </a:lvl5pPr>
          </a:lstStyle>
          <a:p>
            <a:pPr marL="216005" marR="0" lvl="0" indent="-216005" algn="l" defTabSz="2159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Arial" panose="020B0604020202020204" pitchFamily="34" charset="0"/>
              <a:buChar char="•"/>
              <a:tabLst>
                <a:tab pos="215906" algn="l"/>
              </a:tabLst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Formatvorlagen des Textmasters bearbeiten</a:t>
            </a:r>
          </a:p>
          <a:p>
            <a:pPr marL="432011" marR="0" lvl="1" indent="-21600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Symbol" panose="05050102010706020507" pitchFamily="18" charset="2"/>
              <a:buChar char=""/>
              <a:tabLst>
                <a:tab pos="431811" algn="l"/>
              </a:tabLst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Zweite Ebene</a:t>
            </a:r>
          </a:p>
          <a:p>
            <a:pPr marL="648016" marR="0" lvl="2" indent="-216005" algn="l" defTabSz="2159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Pct val="80000"/>
              <a:buFont typeface="Wingdings" panose="05000000000000000000" pitchFamily="2" charset="2"/>
              <a:buChar char="§"/>
              <a:tabLst>
                <a:tab pos="647716" algn="l"/>
              </a:tabLst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Dritte Ebene</a:t>
            </a:r>
          </a:p>
          <a:p>
            <a:pPr marL="864022" marR="0" lvl="3" indent="-216005" algn="l" defTabSz="2159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Pct val="100000"/>
              <a:buFont typeface="Arial" panose="020B0604020202020204" pitchFamily="34" charset="0"/>
              <a:buChar char="-"/>
              <a:tabLst>
                <a:tab pos="863622" algn="l"/>
              </a:tabLst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Vierte Ebene</a:t>
            </a:r>
          </a:p>
          <a:p>
            <a:pPr marL="864022" marR="0" lvl="4" indent="-21600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Arial" panose="020B0604020202020204" pitchFamily="34" charset="0"/>
              <a:buChar char="-"/>
              <a:tabLst>
                <a:tab pos="895373" algn="l"/>
              </a:tabLst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00989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2_Bilder_1_Text_emn_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D0CD1DC-8B1D-4FEC-9B94-AF2EA2CE9E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69835" y="1152000"/>
            <a:ext cx="5587204" cy="2606066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8138" y="201600"/>
            <a:ext cx="115189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86FF2-D0CD-4450-B177-FB0ABCE732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138" y="4093028"/>
            <a:ext cx="11515724" cy="1580697"/>
          </a:xfrm>
          <a:prstGeom prst="rect">
            <a:avLst/>
          </a:prstGeom>
        </p:spPr>
        <p:txBody>
          <a:bodyPr/>
          <a:lstStyle>
            <a:lvl1pPr marL="216005" marR="0" indent="-216005" algn="l" defTabSz="215906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Arial" panose="020B0604020202020204" pitchFamily="34" charset="0"/>
              <a:buChar char="•"/>
              <a:tabLst>
                <a:tab pos="215906" algn="l"/>
              </a:tabLst>
              <a:defRPr sz="2000"/>
            </a:lvl1pPr>
            <a:lvl2pPr marL="432011" marR="0" indent="-216005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Symbol" panose="05050102010706020507" pitchFamily="18" charset="2"/>
              <a:buChar char=""/>
              <a:tabLst>
                <a:tab pos="431811" algn="l"/>
              </a:tabLst>
              <a:defRPr sz="1800"/>
            </a:lvl2pPr>
            <a:lvl3pPr marL="648016" marR="0" indent="-216005" algn="l" defTabSz="215906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Pct val="80000"/>
              <a:buFont typeface="Wingdings" panose="05000000000000000000" pitchFamily="2" charset="2"/>
              <a:buChar char="§"/>
              <a:tabLst>
                <a:tab pos="647716" algn="l"/>
              </a:tabLst>
              <a:defRPr sz="1800"/>
            </a:lvl3pPr>
            <a:lvl4pPr marL="864022" marR="0" indent="-216005" algn="l" defTabSz="215906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Pct val="100000"/>
              <a:buFont typeface="Arial" panose="020B0604020202020204" pitchFamily="34" charset="0"/>
              <a:buChar char="-"/>
              <a:tabLst>
                <a:tab pos="863622" algn="l"/>
              </a:tabLst>
              <a:defRPr sz="1800"/>
            </a:lvl4pPr>
            <a:lvl5pPr marL="864022" marR="0" indent="-216005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Arial" panose="020B0604020202020204" pitchFamily="34" charset="0"/>
              <a:buChar char="-"/>
              <a:tabLst>
                <a:tab pos="895373" algn="l"/>
              </a:tabLst>
              <a:defRPr sz="1800"/>
            </a:lvl5pPr>
          </a:lstStyle>
          <a:p>
            <a:pPr marL="216005" marR="0" lvl="0" indent="-216005" algn="l" defTabSz="2159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Arial" panose="020B0604020202020204" pitchFamily="34" charset="0"/>
              <a:buChar char="•"/>
              <a:tabLst>
                <a:tab pos="215906" algn="l"/>
              </a:tabLst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Formatvorlagen des Textmasters bearbeiten</a:t>
            </a:r>
          </a:p>
          <a:p>
            <a:pPr marL="432011" marR="0" lvl="1" indent="-21600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Symbol" panose="05050102010706020507" pitchFamily="18" charset="2"/>
              <a:buChar char=""/>
              <a:tabLst>
                <a:tab pos="431811" algn="l"/>
              </a:tabLst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Zweite Ebene</a:t>
            </a:r>
          </a:p>
          <a:p>
            <a:pPr marL="648016" marR="0" lvl="2" indent="-216005" algn="l" defTabSz="2159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Pct val="80000"/>
              <a:buFont typeface="Wingdings" panose="05000000000000000000" pitchFamily="2" charset="2"/>
              <a:buChar char="§"/>
              <a:tabLst>
                <a:tab pos="647716" algn="l"/>
              </a:tabLst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Dritte Ebene</a:t>
            </a:r>
          </a:p>
          <a:p>
            <a:pPr marL="864022" marR="0" lvl="3" indent="-216005" algn="l" defTabSz="2159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Pct val="100000"/>
              <a:buFont typeface="Arial" panose="020B0604020202020204" pitchFamily="34" charset="0"/>
              <a:buChar char="-"/>
              <a:tabLst>
                <a:tab pos="863622" algn="l"/>
              </a:tabLst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Vierte Ebene</a:t>
            </a:r>
          </a:p>
          <a:p>
            <a:pPr marL="864022" marR="0" lvl="4" indent="-21600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Arial" panose="020B0604020202020204" pitchFamily="34" charset="0"/>
              <a:buChar char="-"/>
              <a:tabLst>
                <a:tab pos="895373" algn="l"/>
              </a:tabLst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Fünfte Ebene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5A9E4C08-B162-42F0-AE58-F62F7C9BC2F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8138" y="1152000"/>
            <a:ext cx="5587204" cy="2606066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5388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2_Texte-emn_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8138" y="201600"/>
            <a:ext cx="115189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50F5E56-7DEE-4699-A545-D540BC3811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8138" y="1152000"/>
            <a:ext cx="5587204" cy="4521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48A466B4-A6E6-44AC-A33D-599D698684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9834" y="1152000"/>
            <a:ext cx="5587204" cy="4521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077710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_Bild_und_Quelle-emn_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E95423F-31FC-462B-9E84-E11305F81D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4962" y="1152524"/>
            <a:ext cx="11518900" cy="452120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/>
            </a:lvl1pPr>
          </a:lstStyle>
          <a:p>
            <a:endParaRPr lang="de-DE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8138" y="201600"/>
            <a:ext cx="115189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82276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_Text-emn_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8138" y="201600"/>
            <a:ext cx="115189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F27BD8-EA31-47C0-9A16-C732457471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138" y="1152000"/>
            <a:ext cx="11518900" cy="4521726"/>
          </a:xfrm>
          <a:prstGeom prst="rect">
            <a:avLst/>
          </a:prstGeom>
        </p:spPr>
        <p:txBody>
          <a:bodyPr/>
          <a:lstStyle>
            <a:lvl1pPr marL="216005" marR="0" indent="-216005" algn="l" defTabSz="215906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Arial" panose="020B0604020202020204" pitchFamily="34" charset="0"/>
              <a:buChar char="•"/>
              <a:tabLst>
                <a:tab pos="215906" algn="l"/>
              </a:tabLst>
              <a:defRPr sz="1600"/>
            </a:lvl1pPr>
            <a:lvl2pPr marL="432011" marR="0" indent="-216005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Symbol" panose="05050102010706020507" pitchFamily="18" charset="2"/>
              <a:buChar char=""/>
              <a:tabLst>
                <a:tab pos="431811" algn="l"/>
              </a:tabLst>
              <a:defRPr sz="1400"/>
            </a:lvl2pPr>
            <a:lvl3pPr marL="648016" marR="0" indent="-216005" algn="l" defTabSz="215906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Pct val="80000"/>
              <a:buFont typeface="Wingdings" panose="05000000000000000000" pitchFamily="2" charset="2"/>
              <a:buChar char="§"/>
              <a:tabLst>
                <a:tab pos="647716" algn="l"/>
              </a:tabLst>
              <a:defRPr sz="1400"/>
            </a:lvl3pPr>
            <a:lvl4pPr marL="864022" marR="0" indent="-216005" algn="l" defTabSz="215906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Pct val="100000"/>
              <a:buFont typeface="Arial" panose="020B0604020202020204" pitchFamily="34" charset="0"/>
              <a:buChar char="-"/>
              <a:tabLst>
                <a:tab pos="863622" algn="l"/>
              </a:tabLst>
              <a:defRPr sz="1400"/>
            </a:lvl4pPr>
            <a:lvl5pPr marL="864022" marR="0" indent="-216005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Arial" panose="020B0604020202020204" pitchFamily="34" charset="0"/>
              <a:buChar char="-"/>
              <a:tabLst>
                <a:tab pos="895373" algn="l"/>
              </a:tabLst>
              <a:defRPr sz="1400"/>
            </a:lvl5pPr>
          </a:lstStyle>
          <a:p>
            <a:pPr marL="216005" marR="0" lvl="0" indent="-216005" algn="l" defTabSz="2159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Arial" panose="020B0604020202020204" pitchFamily="34" charset="0"/>
              <a:buChar char="•"/>
              <a:tabLst>
                <a:tab pos="215906" algn="l"/>
              </a:tabLst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Formatvorlagen des Textmasters bearbeiten</a:t>
            </a:r>
          </a:p>
          <a:p>
            <a:pPr marL="432011" marR="0" lvl="1" indent="-21600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Symbol" panose="05050102010706020507" pitchFamily="18" charset="2"/>
              <a:buChar char=""/>
              <a:tabLst>
                <a:tab pos="431811" algn="l"/>
              </a:tabLst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Zweite Ebene</a:t>
            </a:r>
          </a:p>
          <a:p>
            <a:pPr marL="648016" marR="0" lvl="2" indent="-216005" algn="l" defTabSz="2159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Pct val="80000"/>
              <a:buFont typeface="Wingdings" panose="05000000000000000000" pitchFamily="2" charset="2"/>
              <a:buChar char="§"/>
              <a:tabLst>
                <a:tab pos="647716" algn="l"/>
              </a:tabLst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Dritte Ebene</a:t>
            </a:r>
          </a:p>
          <a:p>
            <a:pPr marL="864022" marR="0" lvl="3" indent="-216005" algn="l" defTabSz="2159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Pct val="100000"/>
              <a:buFont typeface="Arial" panose="020B0604020202020204" pitchFamily="34" charset="0"/>
              <a:buChar char="-"/>
              <a:tabLst>
                <a:tab pos="863622" algn="l"/>
              </a:tabLst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Vierte Ebene</a:t>
            </a:r>
          </a:p>
          <a:p>
            <a:pPr marL="864022" marR="0" lvl="4" indent="-21600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549F"/>
              </a:buClr>
              <a:buSzTx/>
              <a:buFont typeface="Arial" panose="020B0604020202020204" pitchFamily="34" charset="0"/>
              <a:buChar char="-"/>
              <a:tabLst>
                <a:tab pos="895373" algn="l"/>
              </a:tabLst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782374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1152525"/>
            <a:ext cx="11518900" cy="400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38138" y="5359405"/>
            <a:ext cx="115189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8138" y="201600"/>
            <a:ext cx="115189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6624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38138" y="1152000"/>
            <a:ext cx="115189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23" indent="0">
              <a:buFontTx/>
              <a:buNone/>
              <a:defRPr sz="1801"/>
            </a:lvl2pPr>
            <a:lvl3pPr marL="914446" indent="0">
              <a:buFontTx/>
              <a:buNone/>
              <a:defRPr sz="1801"/>
            </a:lvl3pPr>
            <a:lvl4pPr marL="1371669" indent="0">
              <a:buFontTx/>
              <a:buNone/>
              <a:defRPr sz="1801"/>
            </a:lvl4pPr>
            <a:lvl5pPr marL="1828891" indent="0">
              <a:buFontTx/>
              <a:buNone/>
              <a:defRPr sz="1801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8138" y="201600"/>
            <a:ext cx="115189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88133458-AB88-45A9-8F7F-F4E3B68D84C7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338138" y="1684338"/>
            <a:ext cx="11518900" cy="3987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Diagramm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7209469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38138" y="2487613"/>
            <a:ext cx="11518900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 dirty="0">
                <a:solidFill>
                  <a:schemeClr val="tx2"/>
                </a:solidFill>
              </a:rPr>
              <a:t>Vielen Dank</a:t>
            </a:r>
            <a:br>
              <a:rPr lang="de-DE" altLang="de-DE" sz="3200" b="1" dirty="0">
                <a:solidFill>
                  <a:schemeClr val="tx2"/>
                </a:solidFill>
              </a:rPr>
            </a:br>
            <a:r>
              <a:rPr lang="de-DE" altLang="de-DE" sz="3200" b="1" dirty="0">
                <a:solidFill>
                  <a:schemeClr val="tx2"/>
                </a:solidFill>
              </a:rPr>
              <a:t>für Ihre Aufmerksamkeit</a:t>
            </a:r>
          </a:p>
        </p:txBody>
      </p:sp>
      <p:cxnSp>
        <p:nvCxnSpPr>
          <p:cNvPr id="5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38138" y="3988800"/>
            <a:ext cx="115189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23" indent="0">
              <a:buFontTx/>
              <a:buNone/>
              <a:defRPr sz="1801"/>
            </a:lvl2pPr>
            <a:lvl3pPr marL="914446" indent="0">
              <a:buFontTx/>
              <a:buNone/>
              <a:defRPr sz="1801"/>
            </a:lvl3pPr>
            <a:lvl4pPr marL="1371669" indent="0">
              <a:buFontTx/>
              <a:buNone/>
              <a:defRPr sz="1801"/>
            </a:lvl4pPr>
            <a:lvl5pPr marL="1828891" indent="0">
              <a:buFontTx/>
              <a:buNone/>
              <a:defRPr sz="1801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871" y="6049958"/>
            <a:ext cx="3232878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757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38138" y="1152000"/>
            <a:ext cx="115189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23" indent="0">
              <a:buFontTx/>
              <a:buNone/>
              <a:defRPr sz="1801"/>
            </a:lvl2pPr>
            <a:lvl3pPr marL="914446" indent="0">
              <a:buFontTx/>
              <a:buNone/>
              <a:defRPr sz="1801"/>
            </a:lvl3pPr>
            <a:lvl4pPr marL="1371669" indent="0">
              <a:buFontTx/>
              <a:buNone/>
              <a:defRPr sz="1801"/>
            </a:lvl4pPr>
            <a:lvl5pPr marL="1828891" indent="0">
              <a:buFontTx/>
              <a:buNone/>
              <a:defRPr sz="1801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8138" y="201600"/>
            <a:ext cx="115189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5071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E68853F-78E7-B2B4-9E20-0AD54E0C9F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1044731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0" imgW="473" imgH="473" progId="TCLayout.ActiveDocument.1">
                  <p:embed/>
                </p:oleObj>
              </mc:Choice>
              <mc:Fallback>
                <p:oleObj name="think-cell Folie" r:id="rId20" imgW="473" imgH="473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68853F-78E7-B2B4-9E20-0AD54E0C9F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4"/>
            <a:ext cx="4795838" cy="173036"/>
          </a:xfrm>
          <a:prstGeom prst="rect">
            <a:avLst/>
          </a:prstGeom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900" dirty="0">
                <a:solidFill>
                  <a:schemeClr val="tx2"/>
                </a:solidFill>
              </a:rPr>
              <a:t>© Werkzeugmaschinenlabor WZL</a:t>
            </a:r>
          </a:p>
          <a:p>
            <a:pPr eaLnBrk="1" hangingPunct="1">
              <a:defRPr/>
            </a:pPr>
            <a:endParaRPr lang="de-DE" altLang="de-DE" sz="900" dirty="0">
              <a:solidFill>
                <a:schemeClr val="tx2"/>
              </a:solidFill>
            </a:endParaRPr>
          </a:p>
        </p:txBody>
      </p:sp>
      <p:cxnSp>
        <p:nvCxnSpPr>
          <p:cNvPr id="11" name="Gerader Verbinder 10"/>
          <p:cNvCxnSpPr>
            <a:cxnSpLocks/>
          </p:cNvCxnSpPr>
          <p:nvPr/>
        </p:nvCxnSpPr>
        <p:spPr>
          <a:xfrm>
            <a:off x="334965" y="814388"/>
            <a:ext cx="11522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34965" y="6040438"/>
            <a:ext cx="11522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34964" y="6227767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8481A02-C116-4BC2-918F-A38CA0BE63BC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‹#›</a:t>
            </a:fld>
            <a:endParaRPr lang="de-DE" altLang="de-DE" sz="900" dirty="0">
              <a:solidFill>
                <a:schemeClr val="tx2"/>
              </a:solidFill>
            </a:endParaRP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871" y="6049958"/>
            <a:ext cx="3232878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1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2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4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6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9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6010" indent="-216010" algn="l" defTabSz="21591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12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2022" indent="-21601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"/>
        <a:tabLst>
          <a:tab pos="431821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8032" indent="-216010" algn="l" defTabSz="21591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32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4044" indent="-216010" algn="l" defTabSz="21591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44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4044" indent="-21601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96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5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1061">
          <p15:clr>
            <a:srgbClr val="F26B43"/>
          </p15:clr>
        </p15:guide>
        <p15:guide id="3" orient="horz" pos="3573">
          <p15:clr>
            <a:srgbClr val="F26B43"/>
          </p15:clr>
        </p15:guide>
        <p15:guide id="4" pos="7470">
          <p15:clr>
            <a:srgbClr val="F26B43"/>
          </p15:clr>
        </p15:guide>
        <p15:guide id="5" pos="2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oveit/moveit2.git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09425DB-D599-7880-E774-BA27B9E0C63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7235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7" imgH="348" progId="TCLayout.ActiveDocument.1">
                  <p:embed/>
                </p:oleObj>
              </mc:Choice>
              <mc:Fallback>
                <p:oleObj name="think-cell Folie" r:id="rId3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5313D62-2D3F-221B-F7F4-87C5E5BC3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/>
              <a:t>Robotic Sensor Systems (RSS) Project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B7DE7F4-A8E4-D1E6-D5EF-722118D55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138" y="3107804"/>
            <a:ext cx="11518900" cy="2395872"/>
          </a:xfrm>
        </p:spPr>
        <p:txBody>
          <a:bodyPr/>
          <a:lstStyle/>
          <a:p>
            <a:r>
              <a:rPr lang="en-US" sz="2400" dirty="0"/>
              <a:t>Group Number 12</a:t>
            </a:r>
          </a:p>
          <a:p>
            <a:endParaRPr lang="en-US" noProof="0" dirty="0"/>
          </a:p>
          <a:p>
            <a:r>
              <a:rPr lang="en-US" noProof="0" dirty="0"/>
              <a:t>Prof. Dr.-Ing. Robert Schmitt</a:t>
            </a:r>
          </a:p>
          <a:p>
            <a:r>
              <a:rPr lang="en-US" noProof="0" dirty="0"/>
              <a:t>Laboratory for Machine Tools and Production Engineering WZL, RWTH Aachen University</a:t>
            </a:r>
          </a:p>
          <a:p>
            <a:endParaRPr lang="en-US" dirty="0"/>
          </a:p>
          <a:p>
            <a:r>
              <a:rPr lang="en-US" noProof="0" dirty="0"/>
              <a:t>Winter Semester 2025/26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058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F0D93-ADB1-EE0E-4693-2EBCCB1C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6A8EFE-B0C4-A781-15C9-CCBAC41E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Project Structure</a:t>
            </a:r>
            <a:endParaRPr lang="de-DE" sz="28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C6A3E80-40D7-9999-9C91-726970C687BF}"/>
              </a:ext>
            </a:extLst>
          </p:cNvPr>
          <p:cNvGrpSpPr/>
          <p:nvPr/>
        </p:nvGrpSpPr>
        <p:grpSpPr>
          <a:xfrm>
            <a:off x="3428513" y="3095869"/>
            <a:ext cx="684916" cy="998113"/>
            <a:chOff x="590838" y="1159098"/>
            <a:chExt cx="744114" cy="10200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EDA1F74-8A8D-4AF0-DC32-6CD893C58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foregroundMark x1="49730" y1="41351" x2="49730" y2="41351"/>
                          <a14:foregroundMark x1="49730" y1="41351" x2="49730" y2="41351"/>
                          <a14:foregroundMark x1="49730" y1="41351" x2="51081" y2="41757"/>
                          <a14:foregroundMark x1="51351" y1="41757" x2="48784" y2="53649"/>
                          <a14:foregroundMark x1="48784" y1="53649" x2="37162" y2="50135"/>
                          <a14:foregroundMark x1="37162" y1="50135" x2="47568" y2="49054"/>
                          <a14:foregroundMark x1="47568" y1="49054" x2="50946" y2="51081"/>
                          <a14:foregroundMark x1="57162" y1="45541" x2="57162" y2="45541"/>
                          <a14:foregroundMark x1="57162" y1="45541" x2="57162" y2="45541"/>
                          <a14:foregroundMark x1="57432" y1="43919" x2="57432" y2="43919"/>
                          <a14:foregroundMark x1="57432" y1="43919" x2="57432" y2="43919"/>
                          <a14:foregroundMark x1="57432" y1="43919" x2="58784" y2="45946"/>
                          <a14:foregroundMark x1="39324" y1="59324" x2="40270" y2="60135"/>
                          <a14:foregroundMark x1="50676" y1="53919" x2="52703" y2="51486"/>
                          <a14:foregroundMark x1="52703" y1="51486" x2="53243" y2="56892"/>
                        </a14:backgroundRemoval>
                      </a14:imgEffect>
                    </a14:imgLayer>
                  </a14:imgProps>
                </a:ext>
              </a:extLst>
            </a:blip>
            <a:srcRect l="21486" t="22335" r="20867" b="22367"/>
            <a:stretch>
              <a:fillRect/>
            </a:stretch>
          </p:blipFill>
          <p:spPr>
            <a:xfrm>
              <a:off x="592428" y="1159098"/>
              <a:ext cx="742524" cy="71228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257D69-C51D-92F4-28B8-B9F83CB5E161}"/>
                </a:ext>
              </a:extLst>
            </p:cNvPr>
            <p:cNvSpPr txBox="1"/>
            <p:nvPr/>
          </p:nvSpPr>
          <p:spPr>
            <a:xfrm>
              <a:off x="590838" y="1871383"/>
              <a:ext cx="7441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ESP32</a:t>
              </a:r>
            </a:p>
          </p:txBody>
        </p: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E66627B-9291-3E4B-3B80-F6673BEBE529}"/>
              </a:ext>
            </a:extLst>
          </p:cNvPr>
          <p:cNvCxnSpPr>
            <a:cxnSpLocks/>
          </p:cNvCxnSpPr>
          <p:nvPr/>
        </p:nvCxnSpPr>
        <p:spPr>
          <a:xfrm>
            <a:off x="4187990" y="3480918"/>
            <a:ext cx="10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829C045-F2E0-1CD4-8762-C15EF7F31E1C}"/>
              </a:ext>
            </a:extLst>
          </p:cNvPr>
          <p:cNvSpPr txBox="1"/>
          <p:nvPr/>
        </p:nvSpPr>
        <p:spPr>
          <a:xfrm>
            <a:off x="4399114" y="3095869"/>
            <a:ext cx="683452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UDP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07C461-F72F-C4F6-024C-5FC9482772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520" b="15652"/>
          <a:stretch>
            <a:fillRect/>
          </a:stretch>
        </p:blipFill>
        <p:spPr>
          <a:xfrm>
            <a:off x="5305830" y="3192665"/>
            <a:ext cx="1554146" cy="5671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D79A66-12F4-E8F0-3D10-4D4A7FF55C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054" t="22401" r="7226" b="18194"/>
          <a:stretch>
            <a:fillRect/>
          </a:stretch>
        </p:blipFill>
        <p:spPr>
          <a:xfrm>
            <a:off x="7939976" y="3222237"/>
            <a:ext cx="1784047" cy="51833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7E95DA-6209-F993-CE37-132ED6F6223B}"/>
              </a:ext>
            </a:extLst>
          </p:cNvPr>
          <p:cNvCxnSpPr>
            <a:cxnSpLocks/>
          </p:cNvCxnSpPr>
          <p:nvPr/>
        </p:nvCxnSpPr>
        <p:spPr>
          <a:xfrm>
            <a:off x="6859976" y="3478197"/>
            <a:ext cx="10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4E58C3-2B83-5ABB-01A6-76EF23E01549}"/>
              </a:ext>
            </a:extLst>
          </p:cNvPr>
          <p:cNvCxnSpPr>
            <a:cxnSpLocks/>
          </p:cNvCxnSpPr>
          <p:nvPr/>
        </p:nvCxnSpPr>
        <p:spPr>
          <a:xfrm flipV="1">
            <a:off x="2685957" y="3766842"/>
            <a:ext cx="540000" cy="257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4B3956-6130-10B7-CC25-61F76F9E8209}"/>
              </a:ext>
            </a:extLst>
          </p:cNvPr>
          <p:cNvCxnSpPr>
            <a:cxnSpLocks/>
          </p:cNvCxnSpPr>
          <p:nvPr/>
        </p:nvCxnSpPr>
        <p:spPr>
          <a:xfrm>
            <a:off x="2685957" y="2840612"/>
            <a:ext cx="540000" cy="255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EB1D72-D771-A4C9-6BA1-CA5B2BFBB02E}"/>
              </a:ext>
            </a:extLst>
          </p:cNvPr>
          <p:cNvCxnSpPr>
            <a:cxnSpLocks/>
          </p:cNvCxnSpPr>
          <p:nvPr/>
        </p:nvCxnSpPr>
        <p:spPr>
          <a:xfrm>
            <a:off x="2685957" y="3446320"/>
            <a:ext cx="54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755C86C-177E-D55D-AB78-34F85D0D1372}"/>
              </a:ext>
            </a:extLst>
          </p:cNvPr>
          <p:cNvSpPr txBox="1"/>
          <p:nvPr/>
        </p:nvSpPr>
        <p:spPr>
          <a:xfrm>
            <a:off x="2403667" y="2472574"/>
            <a:ext cx="627399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IMU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3C3140-17E8-DEE5-BB6B-498ED3268A87}"/>
              </a:ext>
            </a:extLst>
          </p:cNvPr>
          <p:cNvSpPr txBox="1"/>
          <p:nvPr/>
        </p:nvSpPr>
        <p:spPr>
          <a:xfrm>
            <a:off x="2403668" y="4094892"/>
            <a:ext cx="564578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IR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4F5373-CF61-2808-A767-639B7ED6D78B}"/>
              </a:ext>
            </a:extLst>
          </p:cNvPr>
          <p:cNvSpPr txBox="1"/>
          <p:nvPr/>
        </p:nvSpPr>
        <p:spPr>
          <a:xfrm>
            <a:off x="1493556" y="3290459"/>
            <a:ext cx="1144418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Encoder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9297DC-C279-A772-B2BA-2DACF4E77A25}"/>
              </a:ext>
            </a:extLst>
          </p:cNvPr>
          <p:cNvSpPr txBox="1"/>
          <p:nvPr/>
        </p:nvSpPr>
        <p:spPr>
          <a:xfrm>
            <a:off x="7939976" y="3651522"/>
            <a:ext cx="1784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SERVO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76DC8C1-0AEC-47AD-1953-F3D524B72BDE}"/>
              </a:ext>
            </a:extLst>
          </p:cNvPr>
          <p:cNvCxnSpPr>
            <a:cxnSpLocks/>
          </p:cNvCxnSpPr>
          <p:nvPr/>
        </p:nvCxnSpPr>
        <p:spPr>
          <a:xfrm>
            <a:off x="6099046" y="3740575"/>
            <a:ext cx="0" cy="108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B7547A-72DF-DC71-A077-C9316CD7D8FD}"/>
              </a:ext>
            </a:extLst>
          </p:cNvPr>
          <p:cNvCxnSpPr>
            <a:cxnSpLocks/>
          </p:cNvCxnSpPr>
          <p:nvPr/>
        </p:nvCxnSpPr>
        <p:spPr>
          <a:xfrm>
            <a:off x="4740840" y="4820575"/>
            <a:ext cx="2880000" cy="0"/>
          </a:xfrm>
          <a:prstGeom prst="line">
            <a:avLst/>
          </a:prstGeom>
          <a:ln w="635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7E5E7F9-53EA-D5D2-112F-B59030A9051B}"/>
              </a:ext>
            </a:extLst>
          </p:cNvPr>
          <p:cNvCxnSpPr>
            <a:cxnSpLocks/>
          </p:cNvCxnSpPr>
          <p:nvPr/>
        </p:nvCxnSpPr>
        <p:spPr>
          <a:xfrm>
            <a:off x="4740840" y="4820575"/>
            <a:ext cx="0" cy="657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5587E97-3948-6815-EF5F-55FB99DA83C9}"/>
              </a:ext>
            </a:extLst>
          </p:cNvPr>
          <p:cNvCxnSpPr>
            <a:cxnSpLocks/>
          </p:cNvCxnSpPr>
          <p:nvPr/>
        </p:nvCxnSpPr>
        <p:spPr>
          <a:xfrm>
            <a:off x="6103973" y="4820575"/>
            <a:ext cx="0" cy="657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EC7FE2-F3BF-2DDE-A2C6-3321450FBD28}"/>
              </a:ext>
            </a:extLst>
          </p:cNvPr>
          <p:cNvCxnSpPr>
            <a:cxnSpLocks/>
          </p:cNvCxnSpPr>
          <p:nvPr/>
        </p:nvCxnSpPr>
        <p:spPr>
          <a:xfrm>
            <a:off x="7620840" y="4820575"/>
            <a:ext cx="0" cy="657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A3BC97-F8F0-9663-D457-A71A266D33FE}"/>
              </a:ext>
            </a:extLst>
          </p:cNvPr>
          <p:cNvSpPr txBox="1"/>
          <p:nvPr/>
        </p:nvSpPr>
        <p:spPr>
          <a:xfrm>
            <a:off x="5524957" y="5536188"/>
            <a:ext cx="1311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arm_servoing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4ED0EA-5D53-7B35-89E2-2377E7C24876}"/>
              </a:ext>
            </a:extLst>
          </p:cNvPr>
          <p:cNvSpPr txBox="1"/>
          <p:nvPr/>
        </p:nvSpPr>
        <p:spPr>
          <a:xfrm>
            <a:off x="7120043" y="5536188"/>
            <a:ext cx="1001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 err="1"/>
              <a:t>servo_rviz</a:t>
            </a:r>
            <a:endParaRPr lang="en-IN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DE5972-8B3E-D3C4-A350-D1A738F07A2C}"/>
              </a:ext>
            </a:extLst>
          </p:cNvPr>
          <p:cNvSpPr txBox="1"/>
          <p:nvPr/>
        </p:nvSpPr>
        <p:spPr>
          <a:xfrm>
            <a:off x="3770971" y="5539160"/>
            <a:ext cx="1717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 err="1"/>
              <a:t>wifi_sensor_bridge</a:t>
            </a:r>
            <a:endParaRPr lang="en-IN" sz="140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A0848AC-CDF4-474E-EA23-E8DA1A4D41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653" y="972258"/>
            <a:ext cx="11620500" cy="93980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1" i="0" u="sng" strike="noStrike" kern="0" cap="none" spc="0" normalizeH="0" baseline="0" noProof="0" dirty="0">
                <a:ln>
                  <a:noFill/>
                </a:ln>
                <a:solidFill>
                  <a:srgbClr val="434343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Teleoperation of Simulated Kinova Gen3 Robot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1" i="0" u="sng" strike="noStrike" kern="0" cap="none" spc="0" normalizeH="0" baseline="0" noProof="0" dirty="0">
              <a:ln>
                <a:noFill/>
              </a:ln>
              <a:solidFill>
                <a:srgbClr val="434343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>
                  <a:lumMod val="50000"/>
                </a:srgbClr>
              </a:buClr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434343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Control 7-DOF simulated robot in real time using wearable sensors, ROS2, and MoveIt2 Servo.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0790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F9DF07-61A4-E3CB-D34B-4A73E5A5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Sensor Mapping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83F4C14F-C975-F5FF-8199-843D3EF2B1C1}"/>
              </a:ext>
            </a:extLst>
          </p:cNvPr>
          <p:cNvSpPr txBox="1">
            <a:spLocks/>
          </p:cNvSpPr>
          <p:nvPr/>
        </p:nvSpPr>
        <p:spPr>
          <a:xfrm>
            <a:off x="236538" y="956733"/>
            <a:ext cx="11620500" cy="5096933"/>
          </a:xfrm>
          <a:prstGeom prst="rect">
            <a:avLst/>
          </a:prstGeom>
        </p:spPr>
        <p:txBody>
          <a:bodyPr/>
          <a:lstStyle>
            <a:lvl1pPr marL="216010" indent="-216010" algn="l" defTabSz="215912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12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2022" indent="-21601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"/>
              <a:tabLst>
                <a:tab pos="431821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8032" indent="-216010" algn="l" defTabSz="215912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32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4044" indent="-216010" algn="l" defTabSz="215912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44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4044" indent="-21601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96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5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434343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Components and Mapping: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434343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228600" indent="-228600" defTabSz="914400" fontAlgn="auto">
              <a:spcBef>
                <a:spcPts val="0"/>
              </a:spcBef>
              <a:spcAft>
                <a:spcPts val="600"/>
              </a:spcAft>
              <a:buClr>
                <a:srgbClr val="434343">
                  <a:lumMod val="50000"/>
                </a:srgbClr>
              </a:buClr>
              <a:buSzPct val="100000"/>
              <a:buFont typeface="+mj-lt"/>
              <a:buAutoNum type="arabicPeriod"/>
              <a:tabLst/>
              <a:defRPr/>
            </a:pPr>
            <a:r>
              <a:rPr lang="de-DE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ESP32 </a:t>
            </a:r>
            <a:r>
              <a:rPr lang="en-IN" sz="1400" b="1" kern="0" dirty="0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→</a:t>
            </a:r>
            <a:endParaRPr lang="de-DE" sz="1400" b="1" kern="0" dirty="0">
              <a:solidFill>
                <a:srgbClr val="434343">
                  <a:lumMod val="5000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defTabSz="914400" fontAlgn="auto">
              <a:spcBef>
                <a:spcPts val="0"/>
              </a:spcBef>
              <a:spcAft>
                <a:spcPts val="300"/>
              </a:spcAft>
              <a:buClr>
                <a:srgbClr val="434343">
                  <a:lumMod val="50000"/>
                </a:srgbClr>
              </a:buClr>
              <a:buSzPct val="100000"/>
              <a:tabLst/>
              <a:defRPr/>
            </a:pP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IMU – I2C communication</a:t>
            </a:r>
          </a:p>
          <a:p>
            <a:pPr defTabSz="914400" fontAlgn="auto">
              <a:spcBef>
                <a:spcPts val="0"/>
              </a:spcBef>
              <a:spcAft>
                <a:spcPts val="300"/>
              </a:spcAft>
              <a:buClr>
                <a:srgbClr val="434343">
                  <a:lumMod val="50000"/>
                </a:srgbClr>
              </a:buClr>
              <a:buSzPct val="100000"/>
              <a:tabLst/>
              <a:defRPr/>
            </a:pP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IR – Digital reading</a:t>
            </a:r>
          </a:p>
          <a:p>
            <a:pPr defTabSz="914400" fontAlgn="auto">
              <a:spcBef>
                <a:spcPts val="0"/>
              </a:spcBef>
              <a:spcAft>
                <a:spcPts val="300"/>
              </a:spcAft>
              <a:buClr>
                <a:srgbClr val="434343">
                  <a:lumMod val="50000"/>
                </a:srgbClr>
              </a:buClr>
              <a:buSzPct val="100000"/>
              <a:tabLst/>
              <a:defRPr/>
            </a:pP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Encoder – Hardware interrupts for dial and digital read for button</a:t>
            </a:r>
          </a:p>
          <a:p>
            <a:pPr defTabSz="914400" fontAlgn="auto">
              <a:spcBef>
                <a:spcPts val="0"/>
              </a:spcBef>
              <a:spcAft>
                <a:spcPts val="300"/>
              </a:spcAft>
              <a:buClr>
                <a:srgbClr val="434343">
                  <a:lumMod val="50000"/>
                </a:srgbClr>
              </a:buClr>
              <a:buSzPct val="100000"/>
              <a:tabLst/>
              <a:defRPr/>
            </a:pP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434343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342900" lvl="0" indent="-342900" defTabSz="914400" fontAlgn="auto">
              <a:spcBef>
                <a:spcPts val="0"/>
              </a:spcBef>
              <a:spcAft>
                <a:spcPts val="600"/>
              </a:spcAft>
              <a:buClr>
                <a:srgbClr val="434343">
                  <a:lumMod val="50000"/>
                </a:srgbClr>
              </a:buClr>
              <a:buSzPct val="100000"/>
              <a:buFont typeface="+mj-lt"/>
              <a:buAutoNum type="arabicPeriod" startAt="2"/>
              <a:tabLst/>
              <a:defRPr/>
            </a:pPr>
            <a:r>
              <a:rPr kumimoji="0" lang="en-IN" sz="1400" b="1" i="0" u="none" strike="noStrike" kern="0" cap="none" spc="0" normalizeH="0" baseline="0" noProof="0" dirty="0">
                <a:ln>
                  <a:noFill/>
                </a:ln>
                <a:solidFill>
                  <a:srgbClr val="434343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IMU MPU6050 sensor →</a:t>
            </a:r>
          </a:p>
          <a:p>
            <a:pPr lvl="1" fontAlgn="auto">
              <a:spcBef>
                <a:spcPts val="0"/>
              </a:spcBef>
              <a:spcAft>
                <a:spcPts val="300"/>
              </a:spcAft>
              <a:buClr>
                <a:srgbClr val="434343">
                  <a:lumMod val="50000"/>
                </a:srgb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434343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Calculate R</a:t>
            </a:r>
            <a:r>
              <a:rPr lang="en-IN" sz="1200" kern="0" dirty="0" err="1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oll</a:t>
            </a:r>
            <a:r>
              <a:rPr lang="en-IN" sz="1200" kern="0" dirty="0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, Pitch, Yaw angles</a:t>
            </a:r>
          </a:p>
          <a:p>
            <a:pPr lvl="1" fontAlgn="auto">
              <a:spcBef>
                <a:spcPts val="0"/>
              </a:spcBef>
              <a:spcAft>
                <a:spcPts val="300"/>
              </a:spcAft>
              <a:buClr>
                <a:srgbClr val="434343">
                  <a:lumMod val="50000"/>
                </a:srgb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434343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Control node ca</a:t>
            </a:r>
            <a:r>
              <a:rPr lang="en-IN" sz="1200" kern="0" dirty="0" err="1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lculates</a:t>
            </a:r>
            <a:r>
              <a:rPr lang="en-IN" sz="1200" kern="0" dirty="0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velocities </a:t>
            </a:r>
            <a:r>
              <a:rPr lang="en-US" sz="1200" b="1" dirty="0" err="1"/>
              <a:t>vx</a:t>
            </a:r>
            <a:r>
              <a:rPr lang="en-US" sz="1200" b="1" dirty="0"/>
              <a:t>, </a:t>
            </a:r>
            <a:r>
              <a:rPr lang="en-US" sz="1200" b="1" dirty="0" err="1"/>
              <a:t>vy</a:t>
            </a:r>
            <a:r>
              <a:rPr lang="en-US" sz="1200" b="1" dirty="0"/>
              <a:t> and </a:t>
            </a:r>
            <a:r>
              <a:rPr lang="en-US" sz="1200" b="1" dirty="0" err="1"/>
              <a:t>vz</a:t>
            </a:r>
            <a:r>
              <a:rPr lang="en-US" sz="1200" dirty="0"/>
              <a:t> respectively.</a:t>
            </a:r>
          </a:p>
          <a:p>
            <a:pPr lvl="1" fontAlgn="auto">
              <a:spcBef>
                <a:spcPts val="0"/>
              </a:spcBef>
              <a:spcAft>
                <a:spcPts val="300"/>
              </a:spcAft>
              <a:buClr>
                <a:srgbClr val="434343">
                  <a:lumMod val="50000"/>
                </a:srgb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34343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Control node </a:t>
            </a:r>
            <a:r>
              <a:rPr lang="en-US" sz="1200" kern="0" dirty="0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generates Twist Commands for </a:t>
            </a:r>
            <a:r>
              <a:rPr lang="en-US" sz="1200" kern="0" dirty="0" err="1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moveit_servo</a:t>
            </a:r>
            <a:r>
              <a:rPr lang="en-US" sz="1200" kern="0" dirty="0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.</a:t>
            </a:r>
          </a:p>
          <a:p>
            <a:pPr lvl="1" fontAlgn="auto">
              <a:spcBef>
                <a:spcPts val="0"/>
              </a:spcBef>
              <a:spcAft>
                <a:spcPts val="300"/>
              </a:spcAft>
              <a:buClr>
                <a:srgbClr val="434343">
                  <a:lumMod val="50000"/>
                </a:srgb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34343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Yaw is used to control opening and closing of gr</a:t>
            </a:r>
            <a:r>
              <a:rPr lang="en-US" sz="1200" kern="0" dirty="0" err="1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ipper</a:t>
            </a:r>
            <a:r>
              <a:rPr lang="en-US" sz="1200" kern="0" dirty="0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.</a:t>
            </a:r>
          </a:p>
          <a:p>
            <a:pPr marL="216012" lvl="1" indent="0" fontAlgn="auto">
              <a:spcBef>
                <a:spcPts val="0"/>
              </a:spcBef>
              <a:spcAft>
                <a:spcPts val="0"/>
              </a:spcAft>
              <a:buClr>
                <a:srgbClr val="434343">
                  <a:lumMod val="50000"/>
                </a:srgbClr>
              </a:buClr>
              <a:buSzPct val="100000"/>
              <a:buNone/>
              <a:tabLst/>
              <a:defRPr/>
            </a:pPr>
            <a:endParaRPr lang="en-US" sz="1200" b="1" kern="0" dirty="0">
              <a:solidFill>
                <a:srgbClr val="434343">
                  <a:lumMod val="5000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342900" indent="-342900" fontAlgn="auto">
              <a:spcBef>
                <a:spcPts val="0"/>
              </a:spcBef>
              <a:spcAft>
                <a:spcPts val="600"/>
              </a:spcAft>
              <a:buClr>
                <a:srgbClr val="434343">
                  <a:lumMod val="50000"/>
                </a:srgbClr>
              </a:buClr>
              <a:buSzPct val="100000"/>
              <a:buFont typeface="+mj-lt"/>
              <a:buAutoNum type="arabicPeriod" startAt="2"/>
              <a:tabLst/>
              <a:defRPr/>
            </a:pPr>
            <a:r>
              <a:rPr lang="en-US" sz="1400" b="1" kern="0" dirty="0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Rotary Encoder sensor </a:t>
            </a:r>
            <a:r>
              <a:rPr lang="en-IN" sz="1400" b="1" kern="0" dirty="0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→</a:t>
            </a:r>
          </a:p>
          <a:p>
            <a:pPr lvl="1" fontAlgn="auto">
              <a:spcBef>
                <a:spcPts val="0"/>
              </a:spcBef>
              <a:spcAft>
                <a:spcPts val="300"/>
              </a:spcAft>
              <a:buClr>
                <a:srgbClr val="434343">
                  <a:lumMod val="50000"/>
                </a:srgb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IN" sz="1200" kern="0" dirty="0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Rotary knob is used to switch between 3 control modes (TCP </a:t>
            </a:r>
            <a:r>
              <a:rPr lang="en-IN" sz="1200" b="1" kern="0" dirty="0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Translation</a:t>
            </a:r>
            <a:r>
              <a:rPr lang="en-IN" sz="1200" kern="0" dirty="0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Control (</a:t>
            </a:r>
            <a:r>
              <a:rPr lang="en-IN" sz="1200" kern="0" dirty="0" err="1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w.r.t.</a:t>
            </a:r>
            <a:r>
              <a:rPr lang="en-IN" sz="1200" kern="0" dirty="0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</a:t>
            </a:r>
            <a:r>
              <a:rPr lang="en-IN" sz="1200" kern="0" dirty="0" err="1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base_link</a:t>
            </a:r>
            <a:r>
              <a:rPr lang="en-IN" sz="1200" kern="0" dirty="0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), </a:t>
            </a:r>
            <a:r>
              <a:rPr lang="en-US" sz="1200" dirty="0"/>
              <a:t>TCP </a:t>
            </a:r>
            <a:r>
              <a:rPr lang="en-US" sz="1200" b="1" dirty="0"/>
              <a:t>Orientation</a:t>
            </a:r>
            <a:r>
              <a:rPr lang="en-US" sz="1200" dirty="0"/>
              <a:t> Control (</a:t>
            </a:r>
            <a:r>
              <a:rPr lang="en-US" sz="1200" dirty="0" err="1"/>
              <a:t>w.r.t.</a:t>
            </a:r>
            <a:r>
              <a:rPr lang="en-US" sz="1200" dirty="0"/>
              <a:t> 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end_effector_link</a:t>
            </a:r>
            <a:r>
              <a:rPr lang="en-US" sz="1200" dirty="0"/>
              <a:t>). </a:t>
            </a:r>
            <a:r>
              <a:rPr lang="en-US" sz="1200" b="1" dirty="0"/>
              <a:t>Gripper</a:t>
            </a:r>
            <a:r>
              <a:rPr lang="en-US" sz="1200" dirty="0"/>
              <a:t> open/close control.</a:t>
            </a:r>
            <a:r>
              <a:rPr lang="en-IN" sz="1200" kern="0" dirty="0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)</a:t>
            </a:r>
          </a:p>
          <a:p>
            <a:pPr lvl="1" fontAlgn="auto">
              <a:spcBef>
                <a:spcPts val="0"/>
              </a:spcBef>
              <a:spcAft>
                <a:spcPts val="300"/>
              </a:spcAft>
              <a:buClr>
                <a:srgbClr val="434343">
                  <a:lumMod val="50000"/>
                </a:srgb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IN" sz="1200" kern="0" dirty="0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The button has 2 modes – toggle between master </a:t>
            </a:r>
            <a:r>
              <a:rPr lang="en-US" sz="1200" b="1" dirty="0"/>
              <a:t>RUN</a:t>
            </a:r>
            <a:r>
              <a:rPr lang="en-US" sz="1200" dirty="0"/>
              <a:t> and master </a:t>
            </a:r>
            <a:r>
              <a:rPr lang="en-US" sz="1200" b="1" dirty="0"/>
              <a:t>OFF</a:t>
            </a:r>
            <a:r>
              <a:rPr lang="en-US" sz="1200" dirty="0"/>
              <a:t>. Long press (&gt; 1 sec) triggers </a:t>
            </a:r>
            <a:r>
              <a:rPr lang="en-US" sz="1200" b="1" dirty="0"/>
              <a:t>Homing</a:t>
            </a:r>
            <a:r>
              <a:rPr lang="en-US" sz="1200" dirty="0"/>
              <a:t> for the robotic arm. (</a:t>
            </a:r>
            <a:r>
              <a:rPr lang="en-US" sz="1200" dirty="0" err="1"/>
              <a:t>joint_trajectory_controller</a:t>
            </a:r>
            <a:r>
              <a:rPr lang="en-US" sz="1200" dirty="0"/>
              <a:t>/</a:t>
            </a:r>
            <a:r>
              <a:rPr lang="en-US" sz="1200" dirty="0" err="1"/>
              <a:t>joint_trajectory</a:t>
            </a:r>
            <a:r>
              <a:rPr lang="en-US" sz="1200" dirty="0"/>
              <a:t>) [Useful in near singularity conditions].</a:t>
            </a:r>
          </a:p>
          <a:p>
            <a:pPr marL="216012" lvl="1" indent="0" fontAlgn="auto">
              <a:spcBef>
                <a:spcPts val="0"/>
              </a:spcBef>
              <a:spcAft>
                <a:spcPts val="300"/>
              </a:spcAft>
              <a:buClr>
                <a:srgbClr val="434343">
                  <a:lumMod val="50000"/>
                </a:srgbClr>
              </a:buClr>
              <a:buSzPct val="100000"/>
              <a:buNone/>
              <a:tabLst/>
              <a:defRPr/>
            </a:pPr>
            <a:endParaRPr lang="en-US" sz="1200" b="1" kern="0" dirty="0">
              <a:solidFill>
                <a:srgbClr val="434343">
                  <a:lumMod val="5000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pPr marL="342900" indent="-342900" fontAlgn="auto">
              <a:spcBef>
                <a:spcPts val="0"/>
              </a:spcBef>
              <a:spcAft>
                <a:spcPts val="300"/>
              </a:spcAft>
              <a:buClr>
                <a:srgbClr val="434343">
                  <a:lumMod val="50000"/>
                </a:srgbClr>
              </a:buClr>
              <a:buSzPct val="100000"/>
              <a:buFont typeface="+mj-lt"/>
              <a:buAutoNum type="arabicPeriod" startAt="2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434343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IR Sensor </a:t>
            </a:r>
            <a:r>
              <a:rPr lang="en-IN" sz="1600" b="1" kern="0" dirty="0">
                <a:solidFill>
                  <a:srgbClr val="434343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→</a:t>
            </a:r>
          </a:p>
          <a:p>
            <a:pPr lvl="1" fontAlgn="auto">
              <a:spcBef>
                <a:spcPts val="0"/>
              </a:spcBef>
              <a:spcAft>
                <a:spcPts val="300"/>
              </a:spcAft>
              <a:buClr>
                <a:srgbClr val="434343">
                  <a:lumMod val="50000"/>
                </a:srgbClr>
              </a:buClr>
              <a:buSzPct val="100000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34343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The IR sensor is used as an Emergency Stop.</a:t>
            </a:r>
          </a:p>
          <a:p>
            <a:pPr lvl="1" fontAlgn="auto">
              <a:spcBef>
                <a:spcPts val="0"/>
              </a:spcBef>
              <a:spcAft>
                <a:spcPts val="300"/>
              </a:spcAft>
              <a:buClr>
                <a:srgbClr val="434343">
                  <a:lumMod val="50000"/>
                </a:srgbClr>
              </a:buClr>
              <a:buSzPct val="100000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34343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No commands from IMU are accepted when the proximity of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434343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iR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34343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sensor is triggered.</a:t>
            </a:r>
          </a:p>
          <a:p>
            <a:pPr marL="342900" indent="-342900" defTabSz="914400" fontAlgn="auto">
              <a:spcBef>
                <a:spcPts val="0"/>
              </a:spcBef>
              <a:spcAft>
                <a:spcPts val="0"/>
              </a:spcAft>
              <a:buClr>
                <a:srgbClr val="434343">
                  <a:lumMod val="50000"/>
                </a:srgbClr>
              </a:buClr>
              <a:buSzPct val="100000"/>
              <a:buFont typeface="+mj-lt"/>
              <a:buAutoNum type="arabicPeriod" startAt="2"/>
              <a:tabLst/>
              <a:defRPr/>
            </a:pP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434343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7595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3A6F1-A664-124F-F81B-13A2FD75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97922D-46C5-C661-E462-460806F45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ROS2 Nodes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045DD97-7981-55CB-4D96-CA17F97C70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138" y="1066800"/>
            <a:ext cx="11518900" cy="4876800"/>
          </a:xfrm>
        </p:spPr>
        <p:txBody>
          <a:bodyPr/>
          <a:lstStyle/>
          <a:p>
            <a:pPr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1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wifi_sensor_bridge</a:t>
            </a:r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This node accepts the sensor data from esp32 on 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udp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port 5000 and 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pusblishes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it to ROS topics /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wifi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/imu and /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wifi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/enc.</a:t>
            </a:r>
            <a:endParaRPr lang="en-US"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spcAft>
                <a:spcPts val="12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arm_servoing: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This is the main controller node that accepts the sensor data from the topics /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wifi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/imu and /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wifi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/enc.</a:t>
            </a:r>
          </a:p>
          <a:p>
            <a:pPr marL="742950" lvl="1" indent="-285750">
              <a:lnSpc>
                <a:spcPct val="150000"/>
              </a:lnSpc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encoder data is then used to define control modes. </a:t>
            </a:r>
          </a:p>
          <a:p>
            <a:pPr marL="742950" lvl="1" indent="-285750">
              <a:lnSpc>
                <a:spcPct val="150000"/>
              </a:lnSpc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IMU </a:t>
            </a:r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RPY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data is used to calculate </a:t>
            </a:r>
            <a:r>
              <a:rPr lang="en-US" sz="12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vx</a:t>
            </a:r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12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vy</a:t>
            </a:r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&amp; </a:t>
            </a:r>
            <a:r>
              <a:rPr lang="en-US" sz="12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vz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457200" lvl="1" indent="0">
              <a:spcAft>
                <a:spcPts val="300"/>
              </a:spcAft>
              <a:buClr>
                <a:schemeClr val="tx1"/>
              </a:buClr>
              <a:buNone/>
            </a:pP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1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moveit_servo</a:t>
            </a:r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moveit2 package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was cloned from the 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movit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github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repo and built in 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overlay_ws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to enable /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moveit_servo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its complimentary services and topics.</a:t>
            </a:r>
          </a:p>
          <a:p>
            <a:pPr marL="457200" lvl="1" indent="0">
              <a:spcAft>
                <a:spcPts val="300"/>
              </a:spcAft>
              <a:buClr>
                <a:schemeClr val="tx1"/>
              </a:buClr>
              <a:buNone/>
            </a:pP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1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servo_rviz</a:t>
            </a:r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gen3_servo_config.yaml file contains the important parameters for the servo controller. It defines parameters like 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move_group_name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singularity_threshold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planning_frame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etc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for our 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kenova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gen3 robotic arm.</a:t>
            </a:r>
          </a:p>
          <a:p>
            <a:pPr marL="742950" lvl="1" indent="-285750">
              <a:lnSpc>
                <a:spcPct val="150000"/>
              </a:lnSpc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servo_rviz.launch.py launches the 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rviz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sim and all the nodes required to make the control pipeline work.</a:t>
            </a:r>
          </a:p>
        </p:txBody>
      </p:sp>
    </p:spTree>
    <p:extLst>
      <p:ext uri="{BB962C8B-B14F-4D97-AF65-F5344CB8AC3E}">
        <p14:creationId xmlns:p14="http://schemas.microsoft.com/office/powerpoint/2010/main" val="2152103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7D9B4-209C-5F94-0BAE-3AEF684C8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D8BFD4-D51C-1398-3D9D-6CCA94306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GUI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760D50-5BF8-1D95-4E65-FD0AC7DC1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8" y="1098550"/>
            <a:ext cx="7008324" cy="48873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CCDE65-3925-706E-B2EA-7E7EC385EFB0}"/>
              </a:ext>
            </a:extLst>
          </p:cNvPr>
          <p:cNvSpPr txBox="1"/>
          <p:nvPr/>
        </p:nvSpPr>
        <p:spPr>
          <a:xfrm>
            <a:off x="7594600" y="1098550"/>
            <a:ext cx="425926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We have added a GUI to keep track of – </a:t>
            </a:r>
          </a:p>
          <a:p>
            <a:endParaRPr lang="en-IN" sz="1400" dirty="0"/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IMU RPY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Velocities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Run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Control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Reference Frame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Gripper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Homing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Emergency Stop Status</a:t>
            </a:r>
          </a:p>
        </p:txBody>
      </p:sp>
    </p:spTree>
    <p:extLst>
      <p:ext uri="{BB962C8B-B14F-4D97-AF65-F5344CB8AC3E}">
        <p14:creationId xmlns:p14="http://schemas.microsoft.com/office/powerpoint/2010/main" val="3499228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7E2035-C6F9-2FE8-0C0F-D68682002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IN" sz="2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40917492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LANGUAGE_ID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12700" cap="flat" cmpd="sng" algn="ctr">
          <a:solidFill>
            <a:schemeClr val="tx2"/>
          </a:solidFill>
          <a:prstDash val="solid"/>
          <a:miter lim="800000"/>
          <a:headEnd type="none" w="med" len="med"/>
          <a:tailEnd type="none" w="med" len="med"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 cmpd="sng" algn="ctr">
          <a:solidFill>
            <a:srgbClr val="00549F"/>
          </a:solidFill>
          <a:prstDash val="solid"/>
          <a:miter lim="800000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äsentation2" id="{5D2021C9-97CB-436B-966E-3A941B058FFC}" vid="{B5EA00DC-22E9-47D7-AF39-F04AF24DDE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494</Words>
  <Application>Microsoft Office PowerPoint</Application>
  <PresentationFormat>Widescreen</PresentationFormat>
  <Paragraphs>69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Roboto</vt:lpstr>
      <vt:lpstr>Symbol</vt:lpstr>
      <vt:lpstr>Wingdings</vt:lpstr>
      <vt:lpstr>Präsentation_Master_RWTH_Institute_16zu9</vt:lpstr>
      <vt:lpstr>think-cell Folie</vt:lpstr>
      <vt:lpstr>Robotic Sensor Systems (RSS) Project</vt:lpstr>
      <vt:lpstr>Project Structure</vt:lpstr>
      <vt:lpstr>Sensor Mapping</vt:lpstr>
      <vt:lpstr>ROS2 Nodes</vt:lpstr>
      <vt:lpstr>GUI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Baraka</dc:creator>
  <cp:lastModifiedBy>Aniruddha Atre</cp:lastModifiedBy>
  <cp:revision>57</cp:revision>
  <cp:lastPrinted>2024-10-28T13:32:48Z</cp:lastPrinted>
  <dcterms:created xsi:type="dcterms:W3CDTF">2024-10-28T10:22:49Z</dcterms:created>
  <dcterms:modified xsi:type="dcterms:W3CDTF">2026-01-21T18:18:56Z</dcterms:modified>
</cp:coreProperties>
</file>